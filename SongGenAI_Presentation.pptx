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86" y="11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9728" y="0"/>
            <a:ext cx="12079224" cy="6858000"/>
          </a:xfrm>
          <a:prstGeom prst="rect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</a:rPr>
              <a:t>SongGenAI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0" y="2788920"/>
            <a:ext cx="393192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06B6D4"/>
                </a:solidFill>
              </a:rPr>
              <a:t>AI Song Generation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566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A0A0B0"/>
                </a:solidFill>
              </a:rPr>
              <a:t>Exercise 4 — Apply Strategy Pattern for Song Generation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114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A0A0B0"/>
                </a:solidFill>
              </a:rPr>
              <a:t>Sudha Sutaschuto  ·  Software Engineering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66160" y="5029200"/>
            <a:ext cx="1554480" cy="34747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66160" y="5047488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Django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94960" y="5029200"/>
            <a:ext cx="1554480" cy="34747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394960" y="5047488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Suno AI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23760" y="5029200"/>
            <a:ext cx="1554480" cy="34747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223760" y="5047488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Strategy Pattern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0A0B0"/>
                </a:solidFill>
              </a:rPr>
              <a:t>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What It Does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14400"/>
            <a:ext cx="109728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A0A0B0"/>
                </a:solidFill>
              </a:rPr>
              <a:t>Core user journey from login to library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420624" cy="42062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298448"/>
            <a:ext cx="2560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Creator registers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1298448"/>
            <a:ext cx="8046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0A0B0"/>
                </a:solidFill>
              </a:rPr>
              <a:t>Google OAuth login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938528"/>
            <a:ext cx="420624" cy="42062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1938528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1956816"/>
            <a:ext cx="2560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Fill a Form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1956816"/>
            <a:ext cx="8046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0A0B0"/>
                </a:solidFill>
              </a:rPr>
              <a:t>Title · Genre · Mood · Duration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596896"/>
            <a:ext cx="420624" cy="42062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" y="2596896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2615184"/>
            <a:ext cx="2560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Song generated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615184"/>
            <a:ext cx="8046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0A0B0"/>
                </a:solidFill>
              </a:rPr>
              <a:t>Mock (instant) or Suno AI (async)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255264"/>
            <a:ext cx="420624" cy="42062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" y="3255264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3273552"/>
            <a:ext cx="2560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Song Manager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3273552"/>
            <a:ext cx="8046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0A0B0"/>
                </a:solidFill>
              </a:rPr>
              <a:t>PENDING → SUCCESS · Playback · Download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913632"/>
            <a:ext cx="420624" cy="42062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" y="3913632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3931920"/>
            <a:ext cx="2560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Organize &amp; Share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3931920"/>
            <a:ext cx="8046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0A0B0"/>
                </a:solidFill>
              </a:rPr>
              <a:t>Libraries · UUID share links · Public toggle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572000"/>
            <a:ext cx="420624" cy="42062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7200" y="4572000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4590288"/>
            <a:ext cx="2560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Browse page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0" y="4590288"/>
            <a:ext cx="8046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0A0B0"/>
                </a:solidFill>
              </a:rPr>
              <a:t>Public songs visible to all users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230368"/>
            <a:ext cx="420624" cy="42062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57200" y="5230368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" y="5248656"/>
            <a:ext cx="2560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Credits tracked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0" y="5248656"/>
            <a:ext cx="8046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0A0B0"/>
                </a:solidFill>
              </a:rPr>
              <a:t>CreditTransaction on every generation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5989320"/>
            <a:ext cx="11247120" cy="5486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0080" y="6035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C55E"/>
                </a:solidFill>
              </a:rPr>
              <a:t>mock mode → instant · no API · offline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0" y="603504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B6D4"/>
                </a:solidFill>
              </a:rPr>
              <a:t>suno mode → ~30s async · Suno API key + ngrok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0A0B0"/>
                </a:solidFill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9566" y="0"/>
            <a:ext cx="12188952" cy="6858000"/>
          </a:xfrm>
          <a:prstGeom prst="rect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Domain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14400"/>
            <a:ext cx="109728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A0A0B0"/>
                </a:solidFill>
              </a:rPr>
              <a:t>8 entities · relationships shown below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48920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A0B0"/>
                </a:solidFill>
              </a:rPr>
              <a:t>• One Form → exactly one Song  (OneToOneField)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585860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A0B0"/>
                </a:solidFill>
              </a:rPr>
              <a:t>• One Song → many Libraries  (ManyToManyField)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55321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A0B0"/>
                </a:solidFill>
              </a:rPr>
              <a:t>• One Song → many Shares  (each has UUID token)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5221637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A0A0B0"/>
                </a:solidFill>
              </a:rPr>
              <a:t>• Every generation → one </a:t>
            </a:r>
            <a:r>
              <a:rPr sz="1300" b="0" i="0" dirty="0" err="1">
                <a:solidFill>
                  <a:srgbClr val="A0A0B0"/>
                </a:solidFill>
              </a:rPr>
              <a:t>CreditTransaction</a:t>
            </a:r>
            <a:r>
              <a:rPr sz="1300" b="0" i="0" dirty="0">
                <a:solidFill>
                  <a:srgbClr val="A0A0B0"/>
                </a:solidFill>
              </a:rPr>
              <a:t>  (DEDUCT)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17220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A0B0"/>
                </a:solidFill>
              </a:rPr>
              <a:t>• Failed generation → REFUND transaction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0A0B0"/>
                </a:solidFill>
              </a:rPr>
              <a:t>3 / 10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CBB173D7-5351-46C2-8CE7-3A5F190B73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0173" y="81253"/>
            <a:ext cx="3469200" cy="65876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14400"/>
            <a:ext cx="109728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A0A0B0"/>
                </a:solidFill>
              </a:rPr>
              <a:t>Service-oriented layers — thin controllers, fat services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2194560" cy="6400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481328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F0F1A"/>
                </a:solidFill>
              </a:rPr>
              <a:t>Routes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2651760" y="1645920"/>
            <a:ext cx="9052560" cy="6400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834640" y="1691640"/>
            <a:ext cx="8869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/generation/  /manager/  /browse/  /user/  /playback/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029968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7C3AED"/>
                </a:solidFill>
              </a:rPr>
              <a:t>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249424"/>
            <a:ext cx="2194560" cy="6400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2359152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F0F1A"/>
                </a:solidFill>
              </a:rPr>
              <a:t>Controllers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51760" y="2523744"/>
            <a:ext cx="9052560" cy="6400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834640" y="2569464"/>
            <a:ext cx="8869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Extract params · return JSON or HTML · no business logic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07792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7C3AED"/>
                </a:solidFill>
              </a:rPr>
              <a:t>↓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127248"/>
            <a:ext cx="2194560" cy="6400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" y="3236976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F0F1A"/>
                </a:solidFill>
              </a:rPr>
              <a:t>Services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51760" y="3401568"/>
            <a:ext cx="9052560" cy="6400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834640" y="3447288"/>
            <a:ext cx="8869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Business logic · DB queries · validation · formatting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3785616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7C3AED"/>
                </a:solidFill>
              </a:rPr>
              <a:t>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005072"/>
            <a:ext cx="2194560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" y="41148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F0F1A"/>
                </a:solidFill>
              </a:rPr>
              <a:t>Strategies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51760" y="4279392"/>
            <a:ext cx="9052560" cy="6400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834640" y="4325112"/>
            <a:ext cx="8869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SongGeneratorStrategy: Mock or Suno — swappable via env var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4663440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7C3AED"/>
                </a:solidFill>
              </a:rPr>
              <a:t>↓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882896"/>
            <a:ext cx="2194560" cy="640080"/>
          </a:xfrm>
          <a:prstGeom prst="rect">
            <a:avLst/>
          </a:prstGeom>
          <a:solidFill>
            <a:srgbClr val="A0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7200" y="4992624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F0F1A"/>
                </a:solidFill>
              </a:rPr>
              <a:t>Models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651760" y="5157216"/>
            <a:ext cx="9052560" cy="6400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834640" y="5202936"/>
            <a:ext cx="8869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Django ORM — Creator, Form, Song, Library, Share, CreditTransaction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0A0B0"/>
                </a:solidFill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Strategy Pattern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14400"/>
            <a:ext cx="109728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005840"/>
            <a:ext cx="10972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 dirty="0">
                <a:solidFill>
                  <a:srgbClr val="A0A0B0"/>
                </a:solidFill>
              </a:rPr>
              <a:t>Core design — swappable generation algorithm</a:t>
            </a:r>
            <a:r>
              <a:rPr lang="en-US" sz="1600" b="0" i="1" dirty="0">
                <a:solidFill>
                  <a:srgbClr val="A0A0B0"/>
                </a:solidFill>
              </a:rPr>
              <a:t> usin</a:t>
            </a:r>
            <a:r>
              <a:rPr lang="en-US" sz="1600" i="1" dirty="0">
                <a:solidFill>
                  <a:srgbClr val="A0A0B0"/>
                </a:solidFill>
              </a:rPr>
              <a:t>g factory and </a:t>
            </a:r>
            <a:r>
              <a:rPr lang="en-US" sz="1600" i="1" dirty="0" err="1">
                <a:solidFill>
                  <a:srgbClr val="A0A0B0"/>
                </a:solidFill>
              </a:rPr>
              <a:t>stratergy</a:t>
            </a:r>
            <a:endParaRPr sz="1600" b="0" i="1" dirty="0">
              <a:solidFill>
                <a:srgbClr val="A0A0B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57200" y="1312164"/>
            <a:ext cx="11247120" cy="5029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36806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06B6D4"/>
                </a:solidFill>
              </a:rPr>
              <a:t>❝  How do we swap Mock ↔ Suno without touching controllers or services?  ❞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920240"/>
            <a:ext cx="3566160" cy="6400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297680" y="1920240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«abstract»  SongGeneratorStrategy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240280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6B6D4"/>
                </a:solidFill>
              </a:rPr>
              <a:t>+ generate(form) → Song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53328" y="2560320"/>
            <a:ext cx="45720" cy="4572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926080" y="3017520"/>
            <a:ext cx="6309360" cy="45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926080" y="3017520"/>
            <a:ext cx="45720" cy="3657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9189720" y="3017520"/>
            <a:ext cx="45720" cy="3657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371600" y="3383280"/>
            <a:ext cx="3200400" cy="8229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371600" y="340156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0F1A"/>
                </a:solidFill>
              </a:rPr>
              <a:t>MockSongGeneratorStrategy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74903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F0F1A"/>
                </a:solidFill>
              </a:rPr>
              <a:t>Instant SUCCESS · fixed audio URL
No API call · fully offline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589520" y="3383280"/>
            <a:ext cx="3200400" cy="8229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589520" y="340156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0F1A"/>
                </a:solidFill>
              </a:rPr>
              <a:t>SunoSongGeneratorStrategy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0" y="374903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F0F1A"/>
                </a:solidFill>
              </a:rPr>
              <a:t>Async PENDING → callback → SUCCESS
Real Suno AI · real audio URL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480560"/>
            <a:ext cx="11247120" cy="13258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080" y="4572000"/>
            <a:ext cx="1088136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06B6D4"/>
                </a:solidFill>
                <a:latin typeface="Courier New"/>
              </a:rPr>
              <a:t># app/strategies/factory.py</a:t>
            </a:r>
          </a:p>
          <a:p>
            <a:pPr algn="l"/>
            <a:r>
              <a:rPr sz="1100">
                <a:solidFill>
                  <a:srgbClr val="06B6D4"/>
                </a:solidFill>
                <a:latin typeface="Courier New"/>
              </a:rPr>
              <a:t>def get_generator_strategy() -&gt; SongGeneratorStrategy:</a:t>
            </a:r>
          </a:p>
          <a:p>
            <a:pPr algn="l"/>
            <a:r>
              <a:rPr sz="1100">
                <a:solidFill>
                  <a:srgbClr val="06B6D4"/>
                </a:solidFill>
                <a:latin typeface="Courier New"/>
              </a:rPr>
              <a:t>    strategy_name = getattr(settings, "GENERATOR_STRATEGY", "mock").lower()</a:t>
            </a:r>
          </a:p>
          <a:p>
            <a:pPr algn="l"/>
            <a:r>
              <a:rPr sz="1100">
                <a:solidFill>
                  <a:srgbClr val="06B6D4"/>
                </a:solidFill>
                <a:latin typeface="Courier New"/>
              </a:rPr>
              <a:t>    if strategy_name == "suno":</a:t>
            </a:r>
          </a:p>
          <a:p>
            <a:pPr algn="l"/>
            <a:r>
              <a:rPr sz="1100">
                <a:solidFill>
                  <a:srgbClr val="06B6D4"/>
                </a:solidFill>
                <a:latin typeface="Courier New"/>
              </a:rPr>
              <a:t>        return SunoSongGeneratorStrategy()</a:t>
            </a:r>
          </a:p>
          <a:p>
            <a:pPr algn="l"/>
            <a:r>
              <a:rPr sz="1100">
                <a:solidFill>
                  <a:srgbClr val="06B6D4"/>
                </a:solidFill>
                <a:latin typeface="Courier New"/>
              </a:rPr>
              <a:t>    return MockSongGeneratorStrategy()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59E0B"/>
                </a:solidFill>
              </a:rPr>
              <a:t>Switch strategy:  GENERATOR_STRATEGY=suno  →  no controller or service changes needed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0A0B0"/>
                </a:solidFill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Strategy in Action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14400"/>
            <a:ext cx="109728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A0A0B0"/>
                </a:solidFill>
              </a:rPr>
              <a:t>Mock vs Suno — same interface, different behaviour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5394960" cy="4114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298448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F0F1A"/>
                </a:solidFill>
              </a:rPr>
              <a:t>Mock Strategy  —  instant SUCCESS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737360"/>
            <a:ext cx="5394960" cy="20116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1828800"/>
            <a:ext cx="5029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06B6D4"/>
                </a:solidFill>
                <a:latin typeface="Courier New"/>
              </a:rPr>
              <a:t>{</a:t>
            </a:r>
          </a:p>
          <a:p>
            <a:pPr algn="l"/>
            <a:r>
              <a:rPr sz="1200">
                <a:solidFill>
                  <a:srgbClr val="06B6D4"/>
                </a:solidFill>
                <a:latin typeface="Courier New"/>
              </a:rPr>
              <a:t>  "message": "Song created successfully",</a:t>
            </a:r>
          </a:p>
          <a:p>
            <a:pPr algn="l"/>
            <a:r>
              <a:rPr sz="1200">
                <a:solidFill>
                  <a:srgbClr val="06B6D4"/>
                </a:solidFill>
                <a:latin typeface="Courier New"/>
              </a:rPr>
              <a:t>  "song_title": "Generated Song 1",</a:t>
            </a:r>
          </a:p>
          <a:p>
            <a:pPr algn="l"/>
            <a:r>
              <a:rPr sz="1200">
                <a:solidFill>
                  <a:srgbClr val="06B6D4"/>
                </a:solidFill>
                <a:latin typeface="Courier New"/>
              </a:rPr>
              <a:t>  "status": "SUCCESS",</a:t>
            </a:r>
          </a:p>
          <a:p>
            <a:pPr algn="l"/>
            <a:r>
              <a:rPr sz="1200">
                <a:solidFill>
                  <a:srgbClr val="06B6D4"/>
                </a:solidFill>
                <a:latin typeface="Courier New"/>
              </a:rPr>
              <a:t>  "audio_url": "soundhelix.com/.../SoundHelix-Song-1.mp3",</a:t>
            </a:r>
          </a:p>
          <a:p>
            <a:pPr algn="l"/>
            <a:r>
              <a:rPr sz="1200">
                <a:solidFill>
                  <a:srgbClr val="06B6D4"/>
                </a:solidFill>
                <a:latin typeface="Courier New"/>
              </a:rPr>
              <a:t>  "duration_seconds": 229</a:t>
            </a:r>
          </a:p>
          <a:p>
            <a:pPr algn="l"/>
            <a:r>
              <a:rPr sz="1200">
                <a:solidFill>
                  <a:srgbClr val="06B6D4"/>
                </a:solidFill>
                <a:latin typeface="Courier New"/>
              </a:rPr>
              <a:t>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8404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C55E"/>
                </a:solidFill>
              </a:rPr>
              <a:t>✓  Status → SUCCESS immediately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18795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C55E"/>
                </a:solidFill>
              </a:rPr>
              <a:t>✓  Fixed placeholder audio URL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53542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C55E"/>
                </a:solidFill>
              </a:rPr>
              <a:t>✓  CreditTransaction DEDUCT created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88289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C55E"/>
                </a:solidFill>
              </a:rPr>
              <a:t>✓  No API call, no internet needed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1280160"/>
            <a:ext cx="5394960" cy="4114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0" y="1298448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F0F1A"/>
                </a:solidFill>
              </a:rPr>
              <a:t>Suno Strategy  —  async PENDING → SUCCESS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1737360"/>
            <a:ext cx="5394960" cy="20116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83680" y="1828800"/>
            <a:ext cx="5029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06B6D4"/>
                </a:solidFill>
                <a:latin typeface="Courier New"/>
              </a:rPr>
              <a:t>{</a:t>
            </a:r>
          </a:p>
          <a:p>
            <a:pPr algn="l"/>
            <a:r>
              <a:rPr sz="1200">
                <a:solidFill>
                  <a:srgbClr val="06B6D4"/>
                </a:solidFill>
                <a:latin typeface="Courier New"/>
              </a:rPr>
              <a:t>  "message": "Song created successfully",</a:t>
            </a:r>
          </a:p>
          <a:p>
            <a:pPr algn="l"/>
            <a:r>
              <a:rPr sz="1200">
                <a:solidFill>
                  <a:srgbClr val="06B6D4"/>
                </a:solidFill>
                <a:latin typeface="Courier New"/>
              </a:rPr>
              <a:t>  "song_title": "Fire Run",</a:t>
            </a:r>
          </a:p>
          <a:p>
            <a:pPr algn="l"/>
            <a:r>
              <a:rPr sz="1200">
                <a:solidFill>
                  <a:srgbClr val="06B6D4"/>
                </a:solidFill>
                <a:latin typeface="Courier New"/>
              </a:rPr>
              <a:t>  "status": "PENDING",</a:t>
            </a:r>
          </a:p>
          <a:p>
            <a:pPr algn="l"/>
            <a:r>
              <a:rPr sz="1200">
                <a:solidFill>
                  <a:srgbClr val="06B6D4"/>
                </a:solidFill>
                <a:latin typeface="Courier New"/>
              </a:rPr>
              <a:t>  "task_id": "abc123xyz",</a:t>
            </a:r>
          </a:p>
          <a:p>
            <a:pPr algn="l"/>
            <a:r>
              <a:rPr sz="1200">
                <a:solidFill>
                  <a:srgbClr val="06B6D4"/>
                </a:solidFill>
                <a:latin typeface="Courier New"/>
              </a:rPr>
              <a:t>  "audio_url": null</a:t>
            </a:r>
          </a:p>
          <a:p>
            <a:pPr algn="l"/>
            <a:r>
              <a:rPr sz="1200">
                <a:solidFill>
                  <a:srgbClr val="06B6D4"/>
                </a:solidFill>
                <a:latin typeface="Courier New"/>
              </a:rPr>
              <a:t>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8404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6B6D4"/>
                </a:solidFill>
              </a:rPr>
              <a:t>✓  Status → PENDING on first response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18795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6B6D4"/>
                </a:solidFill>
              </a:rPr>
              <a:t>✓  Suno calls /generation/suno/callback/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53542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6B6D4"/>
                </a:solidFill>
              </a:rPr>
              <a:t>✓  Song updated → SUCCESS + real audio URL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488289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6B6D4"/>
                </a:solidFill>
              </a:rPr>
              <a:t>✓  Frontend polls until status resolves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89320" y="1188720"/>
            <a:ext cx="54864" cy="5029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" y="61722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F59E0B"/>
                </a:solidFill>
              </a:rPr>
              <a:t>Both implement the same  generate(form) → Song  interface — callers never know which ran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0A0B0"/>
                </a:solidFill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Credit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14400"/>
            <a:ext cx="109728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946404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 dirty="0">
                <a:solidFill>
                  <a:srgbClr val="A0A0B0"/>
                </a:solidFill>
              </a:rPr>
              <a:t>Transaction log — not a mutable balance field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5212080" cy="38404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25272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✗  Naive approach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664208"/>
            <a:ext cx="5212080" cy="7315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1755648"/>
            <a:ext cx="4846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06B6D4"/>
                </a:solidFill>
                <a:latin typeface="Courier New"/>
              </a:rPr>
              <a:t>creator.credits -= 1</a:t>
            </a:r>
          </a:p>
          <a:p>
            <a:pPr algn="l"/>
            <a:r>
              <a:rPr sz="1300">
                <a:solidFill>
                  <a:srgbClr val="06B6D4"/>
                </a:solidFill>
                <a:latin typeface="Courier New"/>
              </a:rPr>
              <a:t>creator.save()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5146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87171"/>
                </a:solidFill>
              </a:rPr>
              <a:t>✗  No history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83464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87171"/>
                </a:solidFill>
              </a:rPr>
              <a:t>✗  No audit trail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15468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87171"/>
                </a:solidFill>
              </a:rPr>
              <a:t>✗  Can't reconstruct balance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47472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87171"/>
                </a:solidFill>
              </a:rPr>
              <a:t>✗  No refund tracking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1234440"/>
            <a:ext cx="5394960" cy="38404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0" y="1252728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F0F1A"/>
                </a:solidFill>
              </a:rPr>
              <a:t>✓  Our approach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1664208"/>
            <a:ext cx="5394960" cy="11887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83680" y="1755648"/>
            <a:ext cx="50292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dirty="0" err="1">
                <a:solidFill>
                  <a:srgbClr val="06B6D4"/>
                </a:solidFill>
                <a:latin typeface="Courier New"/>
              </a:rPr>
              <a:t>CreditTransaction.objects.create</a:t>
            </a:r>
            <a:r>
              <a:rPr sz="1200" dirty="0">
                <a:solidFill>
                  <a:srgbClr val="06B6D4"/>
                </a:solidFill>
                <a:latin typeface="Courier New"/>
              </a:rPr>
              <a:t>(</a:t>
            </a:r>
          </a:p>
          <a:p>
            <a:pPr algn="l"/>
            <a:r>
              <a:rPr sz="1200" dirty="0">
                <a:solidFill>
                  <a:srgbClr val="06B6D4"/>
                </a:solidFill>
                <a:latin typeface="Courier New"/>
              </a:rPr>
              <a:t>    creator = </a:t>
            </a:r>
            <a:r>
              <a:rPr sz="1200" dirty="0" err="1">
                <a:solidFill>
                  <a:srgbClr val="06B6D4"/>
                </a:solidFill>
                <a:latin typeface="Courier New"/>
              </a:rPr>
              <a:t>form.creator</a:t>
            </a:r>
            <a:r>
              <a:rPr sz="1200" dirty="0">
                <a:solidFill>
                  <a:srgbClr val="06B6D4"/>
                </a:solidFill>
                <a:latin typeface="Courier New"/>
              </a:rPr>
              <a:t>,</a:t>
            </a:r>
          </a:p>
          <a:p>
            <a:pPr algn="l"/>
            <a:r>
              <a:rPr sz="1200" dirty="0">
                <a:solidFill>
                  <a:srgbClr val="06B6D4"/>
                </a:solidFill>
                <a:latin typeface="Courier New"/>
              </a:rPr>
              <a:t>    </a:t>
            </a:r>
            <a:r>
              <a:rPr sz="1200" dirty="0" err="1">
                <a:solidFill>
                  <a:srgbClr val="06B6D4"/>
                </a:solidFill>
                <a:latin typeface="Courier New"/>
              </a:rPr>
              <a:t>transaction_type</a:t>
            </a:r>
            <a:r>
              <a:rPr sz="1200" dirty="0">
                <a:solidFill>
                  <a:srgbClr val="06B6D4"/>
                </a:solidFill>
                <a:latin typeface="Courier New"/>
              </a:rPr>
              <a:t> = "DEDUCT",</a:t>
            </a:r>
          </a:p>
          <a:p>
            <a:pPr algn="l"/>
            <a:r>
              <a:rPr sz="1200" dirty="0">
                <a:solidFill>
                  <a:srgbClr val="06B6D4"/>
                </a:solidFill>
                <a:latin typeface="Courier New"/>
              </a:rPr>
              <a:t>    amount = 1,</a:t>
            </a:r>
          </a:p>
          <a:p>
            <a:pPr algn="l"/>
            <a:r>
              <a:rPr sz="1200" dirty="0">
                <a:solidFill>
                  <a:srgbClr val="06B6D4"/>
                </a:solidFill>
                <a:latin typeface="Courier New"/>
              </a:rPr>
              <a:t>    note = "Song generation"</a:t>
            </a:r>
          </a:p>
          <a:p>
            <a:pPr algn="l"/>
            <a:r>
              <a:rPr sz="1200" dirty="0">
                <a:solidFill>
                  <a:srgbClr val="06B6D4"/>
                </a:solidFill>
                <a:latin typeface="Courier New"/>
              </a:rPr>
              <a:t>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3017520"/>
            <a:ext cx="1828800" cy="3657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229600" y="3017520"/>
            <a:ext cx="3566160" cy="3657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0" y="30175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Type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301752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When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3401568"/>
            <a:ext cx="1828800" cy="36576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229600" y="3401568"/>
            <a:ext cx="3566160" cy="36576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46520" y="3401568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2C55E"/>
                </a:solidFill>
              </a:rPr>
              <a:t>ADD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340156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Credits purchased or granted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3785616"/>
            <a:ext cx="1828800" cy="36576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229600" y="3785616"/>
            <a:ext cx="3566160" cy="36576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46520" y="3785616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59E0B"/>
                </a:solidFill>
              </a:rPr>
              <a:t>DEDUCT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3785616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Generation started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4169664"/>
            <a:ext cx="1828800" cy="36576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8229600" y="4169664"/>
            <a:ext cx="3566160" cy="36576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46520" y="4169664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6B6D4"/>
                </a:solidFill>
              </a:rPr>
              <a:t>REFUND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4169664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Generation failed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598932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59E0B"/>
                </a:solidFill>
              </a:rPr>
              <a:t>Balance = SUM(ADD + REFUND) − SUM(DEDUCT)  ·  always recomputable from history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0A0B0"/>
                </a:solidFill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Key Features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14400"/>
            <a:ext cx="109728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A0A0B0"/>
                </a:solidFill>
              </a:rPr>
              <a:t>Full-stack — auth, generation, library, sharing, playback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73152" cy="5029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Google OAuth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A0B0"/>
                </a:solidFill>
              </a:rPr>
              <a:t>Login via Google — no passwords stored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371600"/>
            <a:ext cx="73152" cy="5029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0" y="1371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Song Generation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16916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A0B0"/>
                </a:solidFill>
              </a:rPr>
              <a:t>Form → Strategy → Song · async status polling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468880"/>
            <a:ext cx="73152" cy="5029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2468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Song Manager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7889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A0B0"/>
                </a:solidFill>
              </a:rPr>
              <a:t>History · playback · download · visibility toggle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2468880"/>
            <a:ext cx="73152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83680" y="2468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Libraries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7889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A0B0"/>
                </a:solidFill>
              </a:rPr>
              <a:t>Organize songs into named collections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566160"/>
            <a:ext cx="73152" cy="5029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" y="3566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Share Links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8862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A0B0"/>
                </a:solidFill>
              </a:rPr>
              <a:t>UUID token · shareable URL · no full URL in DB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3566160"/>
            <a:ext cx="73152" cy="5029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83680" y="3566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Browse Page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38862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A0B0"/>
                </a:solidFill>
              </a:rPr>
              <a:t>Public songs visible to all users, not just creators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663440"/>
            <a:ext cx="73152" cy="5029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0080" y="46634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Global Audio Player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49834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A0B0"/>
                </a:solidFill>
              </a:rPr>
              <a:t>Persistent player across page navigation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4663440"/>
            <a:ext cx="73152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83680" y="46634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Credit Tracking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49834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A0B0"/>
                </a:solidFill>
              </a:rPr>
              <a:t>ADD / DEDUCT / REFUND transactions per generation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0A0B0"/>
                </a:solidFill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What I Learned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14400"/>
            <a:ext cx="109728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A0A0B0"/>
                </a:solidFill>
              </a:rPr>
              <a:t>Design decisions and engineering challenges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5486400" cy="4114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435608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F0F1A"/>
                </a:solidFill>
              </a:rPr>
              <a:t>Strategy Pattern Benefits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011680"/>
            <a:ext cx="45720" cy="10058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2011680"/>
            <a:ext cx="5212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Open/Closed Principle — add ElevenLabs strategy without modifying existing code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246120"/>
            <a:ext cx="45720" cy="10058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3246120"/>
            <a:ext cx="5212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Testability — mock strategy = full end-to-end test with zero API calls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480560"/>
            <a:ext cx="45720" cy="10058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4480560"/>
            <a:ext cx="5212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Configurability — runtime selection via env var, no code changes to swap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1417320"/>
            <a:ext cx="5486400" cy="4114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0" y="1435608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F0F1A"/>
                </a:solidFill>
              </a:rPr>
              <a:t>Engineering Challenges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92240" y="2011680"/>
            <a:ext cx="45720" cy="10058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75120" y="2011680"/>
            <a:ext cx="5212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Suno API is async — designed PENDING status + webhook callback flow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92240" y="3246120"/>
            <a:ext cx="45720" cy="10058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75120" y="3246120"/>
            <a:ext cx="5212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Suno response structure varies — robust parsing without crashing on missing keys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92240" y="4480560"/>
            <a:ext cx="45720" cy="10058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675120" y="4480560"/>
            <a:ext cx="5212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Credit REFUND must fire on failure, not just success — transactional thinking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0A0B0"/>
                </a:solidFill>
              </a:rPr>
              <a:t>9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891</Words>
  <Application>Microsoft Office PowerPoint</Application>
  <PresentationFormat>Custom</PresentationFormat>
  <Paragraphs>160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sudha sutaschuto</cp:lastModifiedBy>
  <cp:revision>3</cp:revision>
  <dcterms:created xsi:type="dcterms:W3CDTF">2013-01-27T09:14:16Z</dcterms:created>
  <dcterms:modified xsi:type="dcterms:W3CDTF">2026-04-23T06:53:45Z</dcterms:modified>
  <cp:category/>
</cp:coreProperties>
</file>